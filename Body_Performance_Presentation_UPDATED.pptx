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0C9A7">
              <a:alpha val="10000"/>
            </a:srgbClr>
          </a:solidFill>
          <a:ln w="12700">
            <a:solidFill>
              <a:srgbClr val="00C9A7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2926080"/>
            <a:ext cx="1828800" cy="1828800"/>
          </a:xfrm>
          <a:prstGeom prst="ellipse">
            <a:avLst/>
          </a:prstGeom>
          <a:solidFill>
            <a:srgbClr val="2D6CDF">
              <a:alpha val="10000"/>
            </a:srgbClr>
          </a:solidFill>
          <a:ln w="12700">
            <a:solidFill>
              <a:srgbClr val="2D6CDF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315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PERFORMANCE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ANALYTICS REPORT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4320" y="19385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· Feature Engineering · Regression · SHAP Explainability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7772400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468880"/>
            <a:ext cx="1965960" cy="868680"/>
          </a:xfrm>
          <a:prstGeom prst="rect">
            <a:avLst/>
          </a:prstGeom>
          <a:solidFill>
            <a:srgbClr val="009B80"/>
          </a:solidFill>
          <a:ln w="12700">
            <a:solidFill>
              <a:srgbClr val="009B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2560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13,393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" y="29900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23160" y="2468880"/>
            <a:ext cx="1965960" cy="86868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23160" y="2560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75.29%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23160" y="29900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2468880"/>
            <a:ext cx="1965960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0" y="2560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0.9193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0" y="29900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20840" y="2468880"/>
            <a:ext cx="1965960" cy="8686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20840" y="2560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0.7841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20840" y="29900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520440"/>
            <a:ext cx="8595360" cy="1417320"/>
          </a:xfrm>
          <a:prstGeom prst="rect">
            <a:avLst/>
          </a:prstGeom>
          <a:solidFill>
            <a:srgbClr val="FFFFFF">
              <a:alpha val="5000"/>
            </a:srgbClr>
          </a:solidFill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56616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7673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Hossam Elnagar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0" y="376732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Data Cleaning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9684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Khaled Metwalie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91840" y="3968496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Selection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1696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Hazem Mohamed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91840" y="4169664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Configuration &amp; Training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3708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Hazem Shokr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91840" y="43708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Testing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572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Bassem Salah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91840" y="457200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&amp; Prediction App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and ML — Course Project ·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Roadmap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64592" y="868680"/>
            <a:ext cx="1664208" cy="3474720"/>
          </a:xfrm>
          <a:prstGeom prst="rect">
            <a:avLst/>
          </a:prstGeom>
          <a:solidFill>
            <a:srgbClr val="009B80"/>
          </a:solidFill>
          <a:ln w="12700">
            <a:solidFill>
              <a:srgbClr val="009B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097280"/>
            <a:ext cx="731520" cy="731520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1155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37744" y="1965960"/>
            <a:ext cx="150876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EDA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" y="37033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Hossam Elnagar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47672" y="868680"/>
            <a:ext cx="1664208" cy="347472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04872" y="1097280"/>
            <a:ext cx="731520" cy="731520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11155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020824" y="1965960"/>
            <a:ext cx="150876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Selection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20824" y="37033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Khaled Metwalie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30752" y="868680"/>
            <a:ext cx="1664208" cy="3474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87952" y="1097280"/>
            <a:ext cx="731520" cy="731520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87952" y="11155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803904" y="1965960"/>
            <a:ext cx="150876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Configuration &amp; Training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03904" y="37033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Hazem Mohamed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513832" y="868680"/>
            <a:ext cx="1664208" cy="3474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71032" y="1097280"/>
            <a:ext cx="731520" cy="731520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71032" y="11155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586984" y="1965960"/>
            <a:ext cx="150876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Testing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86984" y="37033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Hazem Shokr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296912" y="868680"/>
            <a:ext cx="1664208" cy="3474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54112" y="1097280"/>
            <a:ext cx="731520" cy="731520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54112" y="11155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370064" y="1965960"/>
            <a:ext cx="150876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&amp; Prediction App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70064" y="37033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Bassem Salah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1440" y="4937760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and ML — Course Project · March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8229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Data Quality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389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Hossam Elnagar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777240"/>
            <a:ext cx="1920240" cy="914400"/>
          </a:xfrm>
          <a:prstGeom prst="rect">
            <a:avLst/>
          </a:prstGeom>
          <a:solidFill>
            <a:srgbClr val="009B80"/>
          </a:solidFill>
          <a:ln w="12700">
            <a:solidFill>
              <a:srgbClr val="009B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4592" y="8686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13,393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4592" y="1325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13432" y="777240"/>
            <a:ext cx="1920240" cy="91440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13432" y="8686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313432" y="1325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64592" y="1828800"/>
            <a:ext cx="1920240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4592" y="19202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4592" y="2377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13432" y="1828800"/>
            <a:ext cx="1920240" cy="9144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313432" y="19202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313432" y="2377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34840" y="749808"/>
            <a:ext cx="45262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26280" y="8046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Pipeline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17720" y="10972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1 duplicate removed (rows 8965 &amp; 12473)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17720" y="14081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Impossible values → NaN → median imputed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17720" y="17190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IQR Winsorization (×3.0) on 7 columns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17720" y="20299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Label encoding (gender, class)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17720" y="234086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Zero data leakage — StandardScaler inside Pipeline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34840" y="2788920"/>
            <a:ext cx="45262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26280" y="28346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Insights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17720" y="312724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declines with age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17720" y="329184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correlation with sit-ups &amp; broad jump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17720" y="355701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drives bimodal patterns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17720" y="372160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Males: higher grip, sit-ups, broad jump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617720" y="398678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fat inversely predicts class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17720" y="415137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fat → Class A; high fat → Class D (r=−0.56)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17720" y="441655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perfectly balanced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17720" y="458114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A=3,347 | B=3,347 | C=3,349 | D=3,349 (~25% each)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64592" y="2834640"/>
            <a:ext cx="4160520" cy="502920"/>
          </a:xfrm>
          <a:prstGeom prst="rect">
            <a:avLst/>
          </a:prstGeom>
          <a:solidFill>
            <a:srgbClr val="009B80"/>
          </a:solidFill>
          <a:ln w="12700">
            <a:solidFill>
              <a:srgbClr val="009B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1168" y="28346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perfectly balanced: A=3,347 | B=3,347 | C=3,349 | D=3,349 (~25% each)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8229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Selection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389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Khaled Metwalie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749808"/>
            <a:ext cx="41148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804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Engineered Features (11 Base + 9 = 20 Total)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6032" y="1115568"/>
            <a:ext cx="73152" cy="274320"/>
          </a:xfrm>
          <a:prstGeom prst="rect">
            <a:avLst/>
          </a:prstGeom>
          <a:solidFill>
            <a:srgbClr val="009B80"/>
          </a:solidFill>
          <a:ln w="12700">
            <a:solidFill>
              <a:srgbClr val="009B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115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40280" y="1115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/ (height/100)²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6032" y="1517904"/>
            <a:ext cx="73152" cy="274320"/>
          </a:xfrm>
          <a:prstGeom prst="rect">
            <a:avLst/>
          </a:prstGeom>
          <a:solidFill>
            <a:srgbClr val="009B80"/>
          </a:solidFill>
          <a:ln w="12700">
            <a:solidFill>
              <a:srgbClr val="009B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517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strength_per_kg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40280" y="15179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gripForce / weight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1920240"/>
            <a:ext cx="73152" cy="274320"/>
          </a:xfrm>
          <a:prstGeom prst="rect">
            <a:avLst/>
          </a:prstGeom>
          <a:solidFill>
            <a:srgbClr val="009B80"/>
          </a:solidFill>
          <a:ln w="12700">
            <a:solidFill>
              <a:srgbClr val="009B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jump_per_kg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4028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broad_jump / weight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6032" y="2322576"/>
            <a:ext cx="73152" cy="27432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322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cardio_index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40280" y="23225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 − diastolic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2724912"/>
            <a:ext cx="73152" cy="27432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724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fitness_composite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40280" y="2724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(grip+situps+jump)/3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3127248"/>
            <a:ext cx="73152" cy="27432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flexibility_ratio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40280" y="31272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bend_forward/height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" y="3529584"/>
            <a:ext cx="73152" cy="2743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529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endurance_strength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40280" y="3529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situps × gripForce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6032" y="3931920"/>
            <a:ext cx="73152" cy="2743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age_bmi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24028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× BMI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56032" y="4334256"/>
            <a:ext cx="73152" cy="2743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43342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body_fat_age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240280" y="43342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body_fat × age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407408" y="749808"/>
            <a:ext cx="4553712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498848" y="8046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Selection Methods Combined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480560" y="1078992"/>
            <a:ext cx="384048" cy="384048"/>
          </a:xfrm>
          <a:prstGeom prst="ellipse">
            <a:avLst/>
          </a:prstGeom>
          <a:solidFill>
            <a:srgbClr val="009B80"/>
          </a:solidFill>
          <a:ln w="12700">
            <a:solidFill>
              <a:srgbClr val="009B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0" y="1078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453128" y="149961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Information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453128" y="17099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dependencies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596128" y="1078992"/>
            <a:ext cx="384048" cy="384048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96128" y="1078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568696" y="149961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568696" y="17099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interactions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711696" y="1078992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11696" y="1078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684264" y="149961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684264" y="17099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Collinearity-robust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827264" y="1078992"/>
            <a:ext cx="384048" cy="384048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27264" y="1078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799832" y="149961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Elim.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799832" y="17099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11 selection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407408" y="2606040"/>
            <a:ext cx="4553712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498848" y="26517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6 Feature Subsets Created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498848" y="2944368"/>
            <a:ext cx="1389888" cy="6858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498848" y="296265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Subset-5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498848" y="3200400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features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498848" y="336499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baseline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980176" y="2944368"/>
            <a:ext cx="1389888" cy="6858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5980176" y="296265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Subset-7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980176" y="3200400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features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980176" y="336499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Top-7 ranking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461504" y="2944368"/>
            <a:ext cx="1389888" cy="6858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7461504" y="296265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Subset-11 (Base)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461504" y="3200400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features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461504" y="336499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only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498848" y="3767328"/>
            <a:ext cx="1389888" cy="6858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4498848" y="378561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Subset-11 (RFE)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498848" y="4023360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features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498848" y="418795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 selected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5980176" y="3767328"/>
            <a:ext cx="1389888" cy="6858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5980176" y="378561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Subset-15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980176" y="4023360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features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980176" y="418795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Top-15 ranking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461504" y="3767328"/>
            <a:ext cx="1389888" cy="685800"/>
          </a:xfrm>
          <a:prstGeom prst="rect">
            <a:avLst/>
          </a:prstGeom>
          <a:solidFill>
            <a:srgbClr val="009B80"/>
          </a:solidFill>
          <a:ln w="19050">
            <a:solidFill>
              <a:srgbClr val="009B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7461504" y="378561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Subset-20 (All+Eng)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7461504" y="4023360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features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461504" y="418795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8229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Configuration &amp; Training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389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Hazem Mohamed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749808"/>
            <a:ext cx="8796528" cy="4114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768096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StandardScaler (inside) → Classifier → GridSearchCV / RandomizedSearchCV → StratifiedKFold(k=5)  |  30 Total Runs: 6 Subsets × 5 Models  |  Zero Data Leakage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1261872"/>
            <a:ext cx="1664208" cy="2606040"/>
          </a:xfrm>
          <a:prstGeom prst="rect">
            <a:avLst/>
          </a:prstGeom>
          <a:solidFill>
            <a:srgbClr val="009B80"/>
          </a:solidFill>
          <a:ln w="12700">
            <a:solidFill>
              <a:srgbClr val="009B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4592" y="139903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" y="2011680"/>
            <a:ext cx="1481328" cy="25603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202996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(96)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032" y="2359152"/>
            <a:ext cx="1481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938528" y="1261872"/>
            <a:ext cx="1664208" cy="260604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938528" y="139903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29968" y="2011680"/>
            <a:ext cx="1481328" cy="25603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29968" y="202996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(20)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29968" y="2359152"/>
            <a:ext cx="1481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n_neighbors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712464" y="1261872"/>
            <a:ext cx="1664208" cy="2606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12464" y="139903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803904" y="2011680"/>
            <a:ext cx="1481328" cy="25603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03904" y="202996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(8)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03904" y="2359152"/>
            <a:ext cx="1481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0" y="1261872"/>
            <a:ext cx="1664208" cy="26060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0" y="139903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(RBF)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577840" y="2011680"/>
            <a:ext cx="1481328" cy="25603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202996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(15)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77840" y="2359152"/>
            <a:ext cx="1481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C, kernel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260336" y="1261872"/>
            <a:ext cx="1664208" cy="26060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260336" y="139903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51776" y="2011680"/>
            <a:ext cx="1481328" cy="25603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51776" y="202996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(20)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51776" y="2359152"/>
            <a:ext cx="1481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alpha, LR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64592" y="3977640"/>
            <a:ext cx="8796528" cy="896112"/>
          </a:xfrm>
          <a:prstGeom prst="rect">
            <a:avLst/>
          </a:prstGeom>
          <a:solidFill>
            <a:srgbClr val="009B80"/>
          </a:solidFill>
          <a:ln w="12700">
            <a:solidFill>
              <a:srgbClr val="009B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56032" y="40233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Winner: Neural Network (128, 64)  —  tanh activation, adaptive LR, alpha=0.001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56032" y="432511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75.29% Accuracy  |  F1=0.7519  |  ROC-AUC=0.9193  |  Subset-20 (All+Engineered)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8229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Model Comparison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389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Hazem Shokr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749808"/>
            <a:ext cx="50292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8046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by Model (Best Configuration)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4160520"/>
            <a:ext cx="4480560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82880" y="405079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02920" y="3240544"/>
            <a:ext cx="4480560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182880" y="313081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02920" y="2320569"/>
            <a:ext cx="4480560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82880" y="2210841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02920" y="1400593"/>
            <a:ext cx="4480560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82880" y="1290865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67512" y="1389921"/>
            <a:ext cx="658368" cy="2770599"/>
          </a:xfrm>
          <a:prstGeom prst="rect">
            <a:avLst/>
          </a:prstGeom>
          <a:solidFill>
            <a:srgbClr val="009B80"/>
          </a:solidFill>
          <a:ln w="12700">
            <a:solidFill>
              <a:srgbClr val="009B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1115601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75.29%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1792" y="4197096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563624" y="1510990"/>
            <a:ext cx="658368" cy="264953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63624" y="123667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517904" y="4197096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(RBF)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459736" y="1676586"/>
            <a:ext cx="658368" cy="248393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59736" y="140226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67.5%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414016" y="4197096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355848" y="1731784"/>
            <a:ext cx="658368" cy="242873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145746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10128" y="4197096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251960" y="1934179"/>
            <a:ext cx="658368" cy="2226341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51960" y="1659859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60.5%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206240" y="4197096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321808" y="749808"/>
            <a:ext cx="3639312" cy="1965960"/>
          </a:xfrm>
          <a:prstGeom prst="rect">
            <a:avLst/>
          </a:prstGeom>
          <a:solidFill>
            <a:srgbClr val="009B80"/>
          </a:solidFill>
          <a:ln w="12700">
            <a:solidFill>
              <a:srgbClr val="009B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13248" y="80467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Best Model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13248" y="11155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903720" y="11155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75.29%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13248" y="13716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903720" y="13716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0.7519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13248" y="16276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03720" y="16276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0.9193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13248" y="188366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903720" y="18836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(128,64)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413248" y="213969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Activation: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903720" y="21396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413248" y="23957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Rate: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903720" y="23957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321808" y="2834640"/>
            <a:ext cx="3639312" cy="20299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413248" y="288950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F1-Score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394960" y="3218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(Best)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473952" y="3255264"/>
            <a:ext cx="2353666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873338" y="32186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394960" y="362102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(Hardest)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473952" y="3657600"/>
            <a:ext cx="1931213" cy="256032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50885" y="362102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394960" y="4023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473952" y="4059936"/>
            <a:ext cx="220279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722462" y="4023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394960" y="442569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(Easiest)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473952" y="4462272"/>
            <a:ext cx="2595067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14739" y="442569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394960" y="4800600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errors between adjacent classes (A↔B and C↔D)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8229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&amp; Evaluation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389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Hazem Shokr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749808"/>
            <a:ext cx="50292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8046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SHAP Feature Importances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56032" y="11704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sit-ups counts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20240" y="1207008"/>
            <a:ext cx="3397567" cy="228600"/>
          </a:xfrm>
          <a:prstGeom prst="rect">
            <a:avLst/>
          </a:prstGeom>
          <a:solidFill>
            <a:srgbClr val="009B80"/>
          </a:solidFill>
          <a:ln w="12700">
            <a:solidFill>
              <a:srgbClr val="009B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63527" y="1170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6032" y="151790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jump corr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920240" y="1554480"/>
            <a:ext cx="3092958" cy="228600"/>
          </a:xfrm>
          <a:prstGeom prst="rect">
            <a:avLst/>
          </a:prstGeom>
          <a:solidFill>
            <a:srgbClr val="009B80"/>
          </a:solidFill>
          <a:ln w="12700">
            <a:solidFill>
              <a:srgbClr val="009B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58918" y="15179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6032" y="186537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gripForce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20240" y="1901952"/>
            <a:ext cx="2764917" cy="22860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0877" y="1865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0.118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6032" y="22128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fitness_composite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920240" y="2249424"/>
            <a:ext cx="2624328" cy="22860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0288" y="2212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56032" y="2560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fat_%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920240" y="2596896"/>
            <a:ext cx="2296287" cy="228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62247" y="2560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0.098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6032" y="29077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920240" y="2944368"/>
            <a:ext cx="2038540" cy="228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04500" y="2907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6032" y="32552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endurance_strength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920240" y="3291840"/>
            <a:ext cx="1851088" cy="2286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17048" y="32552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0.079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56032" y="36027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920240" y="3639312"/>
            <a:ext cx="1523047" cy="2286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89008" y="36027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56032" y="39502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strength_per_kg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920240" y="3986784"/>
            <a:ext cx="1359027" cy="2286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24987" y="3950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0.058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56032" y="4297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height_cm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920240" y="4334256"/>
            <a:ext cx="1124712" cy="2286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90672" y="4297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0.048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321808" y="749808"/>
            <a:ext cx="3639312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413248" y="804672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 Analysis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13248" y="1097280"/>
            <a:ext cx="34564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Train-Val Gap: </a:t>
            </a:r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~0.033 — slight but acceptable overfitting
</a:t>
            </a:r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80:20 split: </a:t>
            </a:r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best across all models
</a:t>
            </a:r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KFold (k=5): </a:t>
            </a:r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CV results confirmed
</a:t>
            </a:r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improves: </a:t>
            </a:r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F1 ↑ with more training data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321808" y="2944368"/>
            <a:ext cx="363931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413248" y="2999232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Class A Beeswarm Insights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13248" y="331012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9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High fitness_composite → pushes toward A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413248" y="360273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9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Low body fat → pushes toward A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413248" y="389534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9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Young age → pushes toward A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413248" y="418795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9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High sit-ups → pushes toward A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413248" y="448056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Class D: exact inverse of all the above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8229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Task — Predicting Broad Jump  [UPDATED]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28600" y="4389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Bassem Salah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749808"/>
            <a:ext cx="8796528" cy="438912"/>
          </a:xfrm>
          <a:prstGeom prst="rect">
            <a:avLst/>
          </a:prstGeom>
          <a:solidFill>
            <a:srgbClr val="009B80"/>
          </a:solidFill>
          <a:ln w="12700">
            <a:solidFill>
              <a:srgbClr val="009B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768096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SVR-RBF achieves best Test R² = 0.7817  |  RMSE = 18.62 cm  (after hyperparameter optimisation)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4592" y="1298448"/>
            <a:ext cx="45720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" y="135331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R² After Tuning (Updated)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977640"/>
            <a:ext cx="3931920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137160" y="3867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02920" y="3520440"/>
            <a:ext cx="3931920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37160" y="34107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02920" y="3063240"/>
            <a:ext cx="3931920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37160" y="29535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02920" y="2606040"/>
            <a:ext cx="3931920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37160" y="24963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40080" y="3024378"/>
            <a:ext cx="530352" cy="1410462"/>
          </a:xfrm>
          <a:prstGeom prst="rect">
            <a:avLst/>
          </a:prstGeom>
          <a:solidFill>
            <a:srgbClr val="009B80"/>
          </a:solidFill>
          <a:ln w="12700">
            <a:solidFill>
              <a:srgbClr val="009B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768346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0.7817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" y="4471416"/>
            <a:ext cx="621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(RBF)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426464" y="3035808"/>
            <a:ext cx="530352" cy="1399032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80744" y="2779776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0.7812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380744" y="4471416"/>
            <a:ext cx="621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212848" y="3147822"/>
            <a:ext cx="530352" cy="128701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67128" y="289179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0.7763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167128" y="4471416"/>
            <a:ext cx="621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999232" y="3412998"/>
            <a:ext cx="530352" cy="102184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53512" y="3156966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0.7647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953512" y="4471416"/>
            <a:ext cx="621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785616" y="3637026"/>
            <a:ext cx="530352" cy="79781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39896" y="3380994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0.7549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739896" y="4471416"/>
            <a:ext cx="621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864608" y="1298448"/>
            <a:ext cx="4096512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956048" y="135331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Results — Final Rankings (Updated)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956048" y="1664208"/>
            <a:ext cx="3822192" cy="2743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16733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367528" y="16733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647688" y="167335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242048" y="167335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836408" y="16733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956048" y="1965960"/>
            <a:ext cx="3822192" cy="420624"/>
          </a:xfrm>
          <a:prstGeom prst="rect">
            <a:avLst/>
          </a:prstGeom>
          <a:solidFill>
            <a:srgbClr val="E6FBF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56048" y="199339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1★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367528" y="19933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9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 (RBF)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647688" y="199339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9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18.62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242048" y="199339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9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0.7817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836408" y="19933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9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0.7928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956048" y="2423160"/>
            <a:ext cx="382219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56048" y="245059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367528" y="24505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647688" y="245059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18.64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242048" y="245059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0.7812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836408" y="24505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0.7918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956048" y="2880360"/>
            <a:ext cx="3822192" cy="420624"/>
          </a:xfrm>
          <a:prstGeom prst="rect">
            <a:avLst/>
          </a:prstGeom>
          <a:solidFill>
            <a:srgbClr val="F0F4F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56048" y="290779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367528" y="29077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Reg.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647688" y="290779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18.85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242048" y="290779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0.7763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836408" y="29077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0.7892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956048" y="3337560"/>
            <a:ext cx="382219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56048" y="336499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367528" y="33649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647688" y="336499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19.33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242048" y="336499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0.7647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7836408" y="33649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0.7788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956048" y="3794760"/>
            <a:ext cx="3822192" cy="420624"/>
          </a:xfrm>
          <a:prstGeom prst="rect">
            <a:avLst/>
          </a:prstGeom>
          <a:solidFill>
            <a:srgbClr val="F0F4F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56048" y="382219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367528" y="38221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647688" y="382219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19.73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7242048" y="382219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0.7549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7836408" y="38221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0.7605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4956048" y="4297680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9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R²=0.78 explains 78% of broad jump variance — ~2 shoe lengths RMSE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822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Regression — 6 Variants × 5 Models  [UPDATED]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28600" y="4389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Bassem Salah  |  Linear Regression Dominates with Rich Features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749808"/>
            <a:ext cx="338328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8046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Feature Engineering Variants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115568"/>
            <a:ext cx="475488" cy="411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11556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" y="113385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" y="131673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features · Reference point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6032" y="1618488"/>
            <a:ext cx="475488" cy="4114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1848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6384" y="163677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86384" y="181965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features · Skew correction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6032" y="2121408"/>
            <a:ext cx="475488" cy="41148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12140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6384" y="213969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Poly-Interactions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86384" y="232257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features · Multiplicative effects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56032" y="2624328"/>
            <a:ext cx="475488" cy="41148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62432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6384" y="264261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Log+Poly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86384" y="282549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features · Combined approach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6032" y="3127248"/>
            <a:ext cx="475488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12724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86384" y="314553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6384" y="332841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features · Quadratic terms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56032" y="3630168"/>
            <a:ext cx="475488" cy="411480"/>
          </a:xfrm>
          <a:prstGeom prst="rect">
            <a:avLst/>
          </a:prstGeom>
          <a:solidFill>
            <a:srgbClr val="009B80"/>
          </a:solidFill>
          <a:ln w="12700">
            <a:solidFill>
              <a:srgbClr val="009B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363016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86384" y="364845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Enhancements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86384" y="383133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features · ★ BEST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657600" y="749808"/>
            <a:ext cx="53035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749040" y="8046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 Per Variant (Best Model for Each)  — Updated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069080" y="2317090"/>
            <a:ext cx="566928" cy="44439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0" y="2088490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0.7817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023360" y="2798064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(SVR)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831080" y="2267712"/>
            <a:ext cx="566928" cy="4937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5360" y="2039112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0.7820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785360" y="2798064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(SVR)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593080" y="2070202"/>
            <a:ext cx="566928" cy="691286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47360" y="1841602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0.7832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547360" y="2798064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(Lin.)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355080" y="1987906"/>
            <a:ext cx="566928" cy="773582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1759306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0.7837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309360" y="2798064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(Lin.)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117080" y="2136038"/>
            <a:ext cx="566928" cy="62545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71360" y="1907438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0.7828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071360" y="2798064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(Lin.)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879080" y="1922069"/>
            <a:ext cx="566928" cy="839419"/>
          </a:xfrm>
          <a:prstGeom prst="rect">
            <a:avLst/>
          </a:prstGeom>
          <a:solidFill>
            <a:srgbClr val="009B80"/>
          </a:solidFill>
          <a:ln w="12700">
            <a:solidFill>
              <a:srgbClr val="009B8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33360" y="1876349"/>
            <a:ext cx="658368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33360" y="1693469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9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0.7841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833360" y="2798064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9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09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(Lin.)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657600" y="3182112"/>
            <a:ext cx="530352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749040" y="323697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Regression Final Results  — Updated Rankings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749040" y="3547872"/>
            <a:ext cx="5120640" cy="2743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49040" y="35570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187952" y="355701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349240" y="355701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629400" y="355701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178040" y="355701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726680" y="355701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749040" y="3840480"/>
            <a:ext cx="5120640" cy="192024"/>
          </a:xfrm>
          <a:prstGeom prst="rect">
            <a:avLst/>
          </a:prstGeom>
          <a:solidFill>
            <a:srgbClr val="E6FBF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749040" y="384962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187952" y="384962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V6: All Enh. (39f)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349240" y="3849624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Reg.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629400" y="38496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9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0.7841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178040" y="38496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18.52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726680" y="384962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0.7924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749040" y="4041648"/>
            <a:ext cx="5120640" cy="19202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49040" y="40507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187952" y="405079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V4: Log+Poly (33f)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349240" y="405079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Reg.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629400" y="405079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0.7837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7178040" y="405079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18.55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726680" y="405079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0.7918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3749040" y="4242816"/>
            <a:ext cx="5120640" cy="192024"/>
          </a:xfrm>
          <a:prstGeom prst="rect">
            <a:avLst/>
          </a:prstGeom>
          <a:solidFill>
            <a:srgbClr val="F0F4F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749040" y="4251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187952" y="425196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V3: Poly-Int (32f)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349240" y="425196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Reg.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6629400" y="425196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0.7832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7178040" y="425196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18.58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7726680" y="4251960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0.7915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749040" y="4443984"/>
            <a:ext cx="5120640" cy="19202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749040" y="44531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4187952" y="445312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V5: Squared (23f)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5349240" y="445312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Reg.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6629400" y="445312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0.7828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7178040" y="445312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18.61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7726680" y="445312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0.7910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3749040" y="4645152"/>
            <a:ext cx="5120640" cy="192024"/>
          </a:xfrm>
          <a:prstGeom prst="rect">
            <a:avLst/>
          </a:prstGeom>
          <a:solidFill>
            <a:srgbClr val="F0F4F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749040" y="46542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4187952" y="465429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V2: Log-Trans (18f)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5349240" y="4654296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SVR-RBF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6629400" y="465429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0.7820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7178040" y="465429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18.65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7726680" y="465429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0.7922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822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Key Takeaways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4592" y="777240"/>
            <a:ext cx="42976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777240"/>
            <a:ext cx="502920" cy="1051560"/>
          </a:xfrm>
          <a:prstGeom prst="rect">
            <a:avLst/>
          </a:prstGeom>
          <a:solidFill>
            <a:srgbClr val="009B80"/>
          </a:solidFill>
          <a:ln w="12700">
            <a:solidFill>
              <a:srgbClr val="009B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7772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58952" y="941832"/>
            <a:ext cx="3584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models dominate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8952" y="1252728"/>
            <a:ext cx="3584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&amp; SVM-RBF outperform linear models by 10-15pp across all subsets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42976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777240"/>
            <a:ext cx="502920" cy="105156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7772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257800" y="941832"/>
            <a:ext cx="3584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pays off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57800" y="1252728"/>
            <a:ext cx="3584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features (9 engineered) achieve highest accuracy — +2pp over baseline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" y="1920240"/>
            <a:ext cx="42976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64592" y="1920240"/>
            <a:ext cx="502920" cy="10515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" y="19202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58952" y="2084832"/>
            <a:ext cx="3584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prevents data leakage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8952" y="2395728"/>
            <a:ext cx="3584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inside Pipeline — fit only on training folds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920240"/>
            <a:ext cx="42976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920240"/>
            <a:ext cx="502920" cy="10515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9202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257800" y="2084832"/>
            <a:ext cx="3584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multiclass separation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2395728"/>
            <a:ext cx="3584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0.9193 — strong discrimination for all 4 performance classes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4592" y="3063240"/>
            <a:ext cx="42976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64592" y="3063240"/>
            <a:ext cx="502920" cy="10515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" y="30632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58952" y="3227832"/>
            <a:ext cx="3584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provides transparency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8952" y="3538728"/>
            <a:ext cx="3584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Sit-ups, broad jump, grip force, age are top predictors (exercise science confirmed)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64592" y="3063240"/>
            <a:ext cx="8796528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64592" y="3063240"/>
            <a:ext cx="502920" cy="1051560"/>
          </a:xfrm>
          <a:prstGeom prst="rect">
            <a:avLst/>
          </a:prstGeom>
          <a:solidFill>
            <a:srgbClr val="009B80"/>
          </a:solidFill>
          <a:ln w="12700">
            <a:solidFill>
              <a:srgbClr val="009B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4592" y="30632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77240" y="32278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 Linear Reg. + polynomial features wins (R²=0.7841)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" y="3538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SVR-RBF wins basic tuning (R²=0.7817). With V6 All-Enhanced features (39f), Linear Regression outperforms all complex models. Rich features &gt; model complexity.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64592" y="4251960"/>
            <a:ext cx="8796528" cy="658368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975104" y="4279392"/>
            <a:ext cx="0" cy="59436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427939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75.29%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47472" y="4590288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712464" y="4279392"/>
            <a:ext cx="0" cy="59436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84832" y="427939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0.9193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2084832" y="4590288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449824" y="4279392"/>
            <a:ext cx="0" cy="59436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22192" y="427939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0.7841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822192" y="4590288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Regression R²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7187184" y="4279392"/>
            <a:ext cx="0" cy="59436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59552" y="427939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559552" y="4590288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8924544" y="4279392"/>
            <a:ext cx="0" cy="59436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96912" y="427939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296912" y="4590288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00C9A7">
              <a:alpha val="8000"/>
            </a:srgbClr>
          </a:solidFill>
          <a:ln w="12700">
            <a:solidFill>
              <a:srgbClr val="00C9A7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1783080"/>
            <a:ext cx="6400800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965960"/>
            <a:ext cx="2633472" cy="749808"/>
          </a:xfrm>
          <a:prstGeom prst="rect">
            <a:avLst/>
          </a:prstGeom>
          <a:solidFill>
            <a:srgbClr val="FFFFFF">
              <a:alpha val="5000"/>
            </a:srgbClr>
          </a:solidFill>
          <a:ln w="889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205740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Hossam Elnagar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" y="236829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Data Cleaning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081528" y="1965960"/>
            <a:ext cx="2633472" cy="749808"/>
          </a:xfrm>
          <a:prstGeom prst="rect">
            <a:avLst/>
          </a:prstGeom>
          <a:solidFill>
            <a:srgbClr val="FFFFFF">
              <a:alpha val="5000"/>
            </a:srgbClr>
          </a:solidFill>
          <a:ln w="889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81528" y="205740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Khaled Metwalie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81528" y="236829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Selection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34456" y="1965960"/>
            <a:ext cx="2633472" cy="749808"/>
          </a:xfrm>
          <a:prstGeom prst="rect">
            <a:avLst/>
          </a:prstGeom>
          <a:solidFill>
            <a:srgbClr val="FFFFFF">
              <a:alpha val="5000"/>
            </a:srgbClr>
          </a:solidFill>
          <a:ln w="889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34456" y="205740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Hazem Mohamed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34456" y="236829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Configuration &amp; Training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645920" y="2971800"/>
            <a:ext cx="2633472" cy="749808"/>
          </a:xfrm>
          <a:prstGeom prst="rect">
            <a:avLst/>
          </a:prstGeom>
          <a:solidFill>
            <a:srgbClr val="FFFFFF">
              <a:alpha val="5000"/>
            </a:srgbClr>
          </a:solidFill>
          <a:ln w="889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0" y="306324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Hazem Shokr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45920" y="337413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Testing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498848" y="2971800"/>
            <a:ext cx="2633472" cy="749808"/>
          </a:xfrm>
          <a:prstGeom prst="rect">
            <a:avLst/>
          </a:prstGeom>
          <a:solidFill>
            <a:srgbClr val="FFFFFF">
              <a:alpha val="5000"/>
            </a:srgbClr>
          </a:solidFill>
          <a:ln w="889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98848" y="306324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Bassem Salah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98848" y="337413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&amp; Prediction App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solidFill>
            <a:srgbClr val="009B80"/>
          </a:solidFill>
          <a:ln w="12700">
            <a:solidFill>
              <a:srgbClr val="009B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95020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75.29% Accuracy  |  0.9193 ROC-AUC  |  0.7841 Best R²  |  30 Model Runs  |  20 Features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Body Performance Analytics</dc:title>
  <dc:subject>PptxGenJS Presentation</dc:subject>
  <dc:creator>PptxGenJS</dc:creator>
  <cp:lastModifiedBy>PptxGenJS</cp:lastModifiedBy>
  <cp:revision>1</cp:revision>
  <dcterms:created xsi:type="dcterms:W3CDTF">2026-03-27T07:41:44Z</dcterms:created>
  <dcterms:modified xsi:type="dcterms:W3CDTF">2026-03-27T07:41:44Z</dcterms:modified>
</cp:coreProperties>
</file>