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.xml" ContentType="application/vnd.openxmlformats-officedocument.drawingml.chart+xml"/>
  <Override PartName="/ppt/notesSlides/notesSlide34.xml" ContentType="application/vnd.openxmlformats-officedocument.presentationml.notesSlide+xml"/>
  <Override PartName="/ppt/charts/chart2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3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rts/chart4.xml" ContentType="application/vnd.openxmlformats-officedocument.drawingml.chart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307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Neural Net</c:v>
                </c:pt>
                <c:pt idx="1">
                  <c:v>SVM (RBF)</c:v>
                </c:pt>
                <c:pt idx="2">
                  <c:v>KNN</c:v>
                </c:pt>
                <c:pt idx="3">
                  <c:v>Decision Tree</c:v>
                </c:pt>
                <c:pt idx="4">
                  <c:v>Logistic Reg.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75.290000000000006</c:v>
                </c:pt>
                <c:pt idx="1">
                  <c:v>72</c:v>
                </c:pt>
                <c:pt idx="2">
                  <c:v>67.5</c:v>
                </c:pt>
                <c:pt idx="3">
                  <c:v>66</c:v>
                </c:pt>
                <c:pt idx="4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6-4755-B9D6-5922F58EAE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D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D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D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Per-Class F1-Score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(Best)</c:v>
                </c:pt>
                <c:pt idx="1">
                  <c:v>B (Hardest)</c:v>
                </c:pt>
                <c:pt idx="2">
                  <c:v>C</c:v>
                </c:pt>
                <c:pt idx="3">
                  <c:v>D (Easiest)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</c:v>
                </c:pt>
                <c:pt idx="1">
                  <c:v>0.64</c:v>
                </c:pt>
                <c:pt idx="2">
                  <c:v>0.73</c:v>
                </c:pt>
                <c:pt idx="3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2-4F6E-BA6F-0DE59CDEE1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D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D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D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Test R² After Tuning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SVR (RBF)</c:v>
                </c:pt>
                <c:pt idx="1">
                  <c:v>Neural Net</c:v>
                </c:pt>
                <c:pt idx="2">
                  <c:v>Linear Reg.</c:v>
                </c:pt>
                <c:pt idx="3">
                  <c:v>KNN</c:v>
                </c:pt>
                <c:pt idx="4">
                  <c:v>Decision Tree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0.78169999999999995</c:v>
                </c:pt>
                <c:pt idx="1">
                  <c:v>0.78120000000000001</c:v>
                </c:pt>
                <c:pt idx="2">
                  <c:v>0.77629999999999999</c:v>
                </c:pt>
                <c:pt idx="3">
                  <c:v>0.76470000000000005</c:v>
                </c:pt>
                <c:pt idx="4">
                  <c:v>0.75490000000000002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A-4898-B597-92C2FF9581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D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D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D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Best R² Per Variant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R²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V1 Base
(17f)</c:v>
                </c:pt>
                <c:pt idx="1">
                  <c:v>V2 Log
(18f)</c:v>
                </c:pt>
                <c:pt idx="2">
                  <c:v>V3 Poly
(32f)</c:v>
                </c:pt>
                <c:pt idx="3">
                  <c:v>V4 Log+P
(33f)</c:v>
                </c:pt>
                <c:pt idx="4">
                  <c:v>V5 Sq
(23f)</c:v>
                </c:pt>
                <c:pt idx="5">
                  <c:v>V6 All
(39f)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0.78169999999999995</c:v>
                </c:pt>
                <c:pt idx="1">
                  <c:v>0.78200000000000003</c:v>
                </c:pt>
                <c:pt idx="2">
                  <c:v>0.78320000000000001</c:v>
                </c:pt>
                <c:pt idx="3">
                  <c:v>0.78369999999999995</c:v>
                </c:pt>
                <c:pt idx="4">
                  <c:v>0.78280000000000005</c:v>
                </c:pt>
                <c:pt idx="5">
                  <c:v>0.78410000000000002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3B-47D9-A85A-CFB6CD1FCA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D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D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D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2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CEB4-F849-08E5-7860-B1C1EB48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14500-EA1E-5918-B08D-92935ADD8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641EA-5E5F-01E0-9A4A-3D0106E5F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815D7-F774-1B6F-7B6C-7F18CEF13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678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G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0F5D4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ANALYTICS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Feature Engineering  |  Regression  |  SHAP Explainability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82880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13,393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834640"/>
            <a:ext cx="182880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88920" y="2834640"/>
            <a:ext cx="1828800" cy="36576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75.29%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889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182880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834640"/>
            <a:ext cx="182880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28346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0.7841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Elnagar  |  Khaled Metwalie  |  Hazem Mohamed  |  Hazem Shokr  |  Bassem Salah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ML — Course Project  |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Data to AI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pipeline — each phase owned by a dedicated team member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08760" cy="25603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087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051560" cy="320040"/>
          </a:xfrm>
          <a:prstGeom prst="rect">
            <a:avLst/>
          </a:prstGeom>
          <a:solidFill>
            <a:srgbClr val="00B4D8">
              <a:alpha val="20000"/>
            </a:srgbClr>
          </a:solidFill>
          <a:ln w="381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84832" y="1371600"/>
            <a:ext cx="1508760" cy="25603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4832" y="1371600"/>
            <a:ext cx="1508760" cy="4572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84832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84832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13432" y="3200400"/>
            <a:ext cx="1051560" cy="320040"/>
          </a:xfrm>
          <a:prstGeom prst="rect">
            <a:avLst/>
          </a:prstGeom>
          <a:solidFill>
            <a:srgbClr val="00F5D4">
              <a:alpha val="20000"/>
            </a:srgbClr>
          </a:solidFill>
          <a:ln w="381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13432" y="3200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9584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03904" y="1371600"/>
            <a:ext cx="1508760" cy="25603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1371600"/>
            <a:ext cx="150876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03904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03904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32504" y="3200400"/>
            <a:ext cx="105156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32504" y="3200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48656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22976" y="1371600"/>
            <a:ext cx="1508760" cy="25603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22976" y="1371600"/>
            <a:ext cx="1508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2976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22976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51576" y="3200400"/>
            <a:ext cx="10515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38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51576" y="3200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6772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242048" y="1371600"/>
            <a:ext cx="1508760" cy="25603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42048" y="1371600"/>
            <a:ext cx="1508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4204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242048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App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70648" y="3200400"/>
            <a:ext cx="105156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70648" y="3200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Classification Configs  |  30 Regression Configs  |  5 Classifiers  |  5 Regressors  |  6 Feature Subsets  |  Zero Data Leakage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0B4D8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DATA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analysis, quality checks, and statistical profiling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4864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13,393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54864" cy="118872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80360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8036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56032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0" y="256032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03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88036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02336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2344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Feature Categories
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Demographics: 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B8C4D4"/>
                </a:solidFill>
              </a:rPr>
              <a:t>age, gender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Body Composition: </a:t>
            </a:r>
            <a:r>
              <a:rPr lang="en-US" sz="1150" dirty="0">
                <a:solidFill>
                  <a:srgbClr val="B8C4D4"/>
                </a:solidFill>
              </a:rPr>
              <a:t>height, weight, body fat %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Cardiovascular: </a:t>
            </a:r>
            <a:r>
              <a:rPr lang="en-US" sz="1150" dirty="0">
                <a:solidFill>
                  <a:srgbClr val="B8C4D4"/>
                </a:solidFill>
              </a:rPr>
              <a:t>systolic / diastolic BP
</a:t>
            </a: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Physical Performance: </a:t>
            </a:r>
            <a:r>
              <a:rPr lang="en-US" sz="1150" dirty="0">
                <a:solidFill>
                  <a:srgbClr val="B8C4D4"/>
                </a:solidFill>
              </a:rPr>
              <a:t>grip strength, flexibility, sit-ups, broad jump
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F5D4"/>
                </a:solidFill>
              </a:rPr>
              <a:t>Target: 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B8C4D4"/>
                </a:solidFill>
              </a:rPr>
              <a:t>4 performance levels (A=best to D=lowest)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320040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</a:rPr>
              <a:t>The Body Performance Dataset contains </a:t>
            </a:r>
            <a:r>
              <a:rPr lang="en-US" sz="1300" b="1" dirty="0">
                <a:solidFill>
                  <a:srgbClr val="00B4D8"/>
                </a:solidFill>
              </a:rPr>
              <a:t>13,392 records</a:t>
            </a:r>
            <a:r>
              <a:rPr lang="en-US" sz="1300" dirty="0">
                <a:solidFill>
                  <a:srgbClr val="B8C4D4"/>
                </a:solidFill>
              </a:rPr>
              <a:t> of physical fitness evaluations across </a:t>
            </a:r>
            <a:r>
              <a:rPr lang="en-US" sz="1300" b="1" dirty="0">
                <a:solidFill>
                  <a:srgbClr val="00B4D8"/>
                </a:solidFill>
              </a:rPr>
              <a:t>12 attributes</a:t>
            </a:r>
            <a:r>
              <a:rPr lang="en-US" sz="1300" dirty="0">
                <a:solidFill>
                  <a:srgbClr val="B8C4D4"/>
                </a:solidFill>
              </a:rPr>
              <a:t>.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</a:rPr>
              <a:t>Features include body composition (age, gender, height, weight, body fat %), cardiovascular health (systolic/diastolic BP), and physical performance (grip strength, flexibility, muscular endurance, explosive power).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</a:rPr>
              <a:t>The target variable </a:t>
            </a:r>
            <a:r>
              <a:rPr lang="en-US" sz="1300" b="1" i="1" dirty="0">
                <a:solidFill>
                  <a:srgbClr val="00F5D4"/>
                </a:solidFill>
              </a:rPr>
              <a:t>class</a:t>
            </a:r>
            <a:r>
              <a:rPr lang="en-US" sz="1300" dirty="0">
                <a:solidFill>
                  <a:srgbClr val="B8C4D4"/>
                </a:solidFill>
              </a:rPr>
              <a:t> categorizes participants into four performance levels: </a:t>
            </a:r>
            <a:r>
              <a:rPr lang="en-US" sz="1300" b="1" dirty="0">
                <a:solidFill>
                  <a:srgbClr val="FFFFFF"/>
                </a:solidFill>
              </a:rPr>
              <a:t>A (best) through D (lowest)</a:t>
            </a:r>
            <a:r>
              <a:rPr lang="en-US" sz="1300" dirty="0">
                <a:solidFill>
                  <a:srgbClr val="B8C4D4"/>
                </a:solidFill>
              </a:rPr>
              <a:t>. Classes are nearly perfectly balanced at ~25% each.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Libraries &amp; Configuration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 Verification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Detection &amp; Data Validity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Column Validation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Analysis — Histograms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Analysis — Density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Detection &amp; IQR Winsorization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IQR Winsorization Implementation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Post-Winsorization Boxplot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Count by Feature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 — Heatmap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 — Pairwise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 — Feature Pairs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 — Scatter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 — Detailed 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EDA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960120"/>
            <a:ext cx="38404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2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840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0F5D4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domain-driven features grounded in exercise science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— 9 Domain-Driven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Khaled Metwalie — grounded in exercise science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/ (height/100)²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body composition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strength_per_kg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gripForce / 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strength normalised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jump_per_kg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broad_jump / 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Explosive power per body mass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cardio_index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- diastolic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Cardiovascular health proxy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fitness_composite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(grip + situps + jump) /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fitness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flexibility_ratio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bend_forward / height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Height-normalised flexibility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endurance_strength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situps × gripForce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interaction 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age_bmi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× BMI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Age-adjusted composition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body_fat_age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body_fat × 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 effect on fat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00F5D4">
              <a:alpha val="15000"/>
            </a:srgbClr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</a:rPr>
              <a:t>IMPACT: </a:t>
            </a:r>
            <a:r>
              <a:rPr lang="en-US" sz="1100" dirty="0">
                <a:solidFill>
                  <a:srgbClr val="FFFFFF"/>
                </a:solidFill>
              </a:rPr>
              <a:t>fitness_composite achieves r=0.979 with broad_jump. Subset-20 outperforms Subset-11 by ~2 pp across ALL models.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Ranking — Importance Scores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31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9319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 — 4 Methods, 6 Subsets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Mutual Info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statistical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06040" y="77724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Importance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split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(100-tree)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 when shuffled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model-agnostic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0" y="777240"/>
            <a:ext cx="1920240" cy="1188720"/>
          </a:xfrm>
          <a:prstGeom prst="rect">
            <a:avLst/>
          </a:prstGeom>
          <a:solidFill>
            <a:srgbClr val="111D30"/>
          </a:solidFill>
          <a:ln w="63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eliminates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important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features — minimal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7 from combined 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Subset-11 (Base)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features, no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Subset-11 (RFE)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11 by Recursive Feature Elimination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15 from combined 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F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Subset-20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F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F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11 original + 9 engineered — BEST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 — Visual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× 6 subsets — 30 configurations with hyperparameter tuning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— 30 Model Configurations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Hazem Mohamed — 5 classifiers × 6 subsets with hyperparameter tuning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60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min_samples_split/leaf, criterion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1097280"/>
            <a:ext cx="640080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 w="381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8229600" cy="64008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709928"/>
            <a:ext cx="54864" cy="64008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7099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17099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7099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n_neighbors, weights, metric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1847088"/>
            <a:ext cx="640080" cy="365760"/>
          </a:xfrm>
          <a:prstGeom prst="rect">
            <a:avLst/>
          </a:prstGeom>
          <a:solidFill>
            <a:srgbClr val="00F5D4">
              <a:alpha val="25000"/>
            </a:srgbClr>
          </a:solidFill>
          <a:ln w="381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0" y="1847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59736"/>
            <a:ext cx="8229600" cy="64008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54864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4597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24597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4597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penalty (L1/L2/ElasticNet)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2596896"/>
            <a:ext cx="640080" cy="365760"/>
          </a:xfrm>
          <a:prstGeom prst="rect">
            <a:avLst/>
          </a:prstGeom>
          <a:solidFill>
            <a:srgbClr val="10B981">
              <a:alpha val="25000"/>
            </a:srgbClr>
          </a:solidFill>
          <a:ln w="38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63840" y="25968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09544"/>
            <a:ext cx="8229600" cy="64008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209544"/>
            <a:ext cx="54864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209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 (RBF)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3209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2095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kernel, gamma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3346704"/>
            <a:ext cx="640080" cy="365760"/>
          </a:xfrm>
          <a:prstGeom prst="rect">
            <a:avLst/>
          </a:prstGeom>
          <a:solidFill>
            <a:srgbClr val="F59E0B">
              <a:alpha val="25000"/>
            </a:srgbClr>
          </a:solidFill>
          <a:ln w="38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0" y="33467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959352"/>
            <a:ext cx="8229600" cy="64008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959352"/>
            <a:ext cx="54864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39593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77440" y="39593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3959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hidden_layers, activation, alpha, LR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4096512"/>
            <a:ext cx="640080" cy="365760"/>
          </a:xfrm>
          <a:prstGeom prst="rect">
            <a:avLst/>
          </a:prstGeom>
          <a:solidFill>
            <a:srgbClr val="7C3AED">
              <a:alpha val="25000"/>
            </a:srgbClr>
          </a:solidFill>
          <a:ln w="38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63840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exhaustive for small spaces (DT, KNN, LR)  |  RandomizedSearch: efficient for large spaces (SVM, MLP)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2B6C-DC79-A00F-F6E4-A32C52DF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ABBCF39C-9DAF-D669-BF34-F9FC67A98F99}"/>
              </a:ext>
            </a:extLst>
          </p:cNvPr>
          <p:cNvSpPr txBox="1"/>
          <p:nvPr/>
        </p:nvSpPr>
        <p:spPr>
          <a:xfrm>
            <a:off x="87086" y="276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— 30 Model Configurations</a:t>
            </a:r>
            <a:endParaRPr lang="en-US" sz="18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3AA96F2-EADF-CA98-FBCD-86BD04E9A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475314"/>
            <a:ext cx="886206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51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Results — Model Comparison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120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Configurations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20640" y="1234440"/>
            <a:ext cx="3657600" cy="420624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212080" y="123444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0" y="1234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40880" y="12344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55280" y="123444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75.29%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746504"/>
            <a:ext cx="3657600" cy="420624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080" y="174650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7465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0" y="17465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174650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~74.1%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0" y="2258568"/>
            <a:ext cx="3657600" cy="420624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12080" y="225856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40880" y="22585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225856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~73.0%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20640" y="2770632"/>
            <a:ext cx="3657600" cy="420624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212080" y="277063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0" y="2770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40880" y="27706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Subset-20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55280" y="277063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~72.0%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20640" y="3282696"/>
            <a:ext cx="3657600" cy="420624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212080" y="328269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0" y="32826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32826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55280" y="328269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~71.0%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KEY: </a:t>
            </a:r>
            <a:r>
              <a:rPr lang="en-US" sz="1100" dirty="0">
                <a:solidFill>
                  <a:srgbClr val="FFFFFF"/>
                </a:solidFill>
              </a:rPr>
              <a:t>Non-linear models dominate — NN and SVM-RBF outperform linear models by 10-15 pp. Feature engineering adds ~2 pp across ALL models.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 — Neural Network Deep Dive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Hazem Shokr — MLP (128, 64) with tanh activation on all 20 features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320040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280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(128, 64)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7099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2139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569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alpha=0.001 (L2)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999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(patience=10)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3429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Subset-20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868680"/>
            <a:ext cx="1737360" cy="86868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868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75.29%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868680"/>
            <a:ext cx="1737360" cy="86868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868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0.7519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868680"/>
            <a:ext cx="1737360" cy="868680"/>
          </a:xfrm>
          <a:prstGeom prst="rect">
            <a:avLst/>
          </a:prstGeom>
          <a:solidFill>
            <a:srgbClr val="111D30"/>
          </a:solidFill>
          <a:ln w="63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0" y="868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0.9193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0" y="1920240"/>
          <a:ext cx="2926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309360" y="1920240"/>
            <a:ext cx="2560320" cy="21945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093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Insights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Most errors between adjacent classes (A-B, C-D)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Class B hardest (F1=0.64) — overlaps A and C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Class D easiest (F1=0.86) — highly distinctive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Ordinal structure preserved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Adjacent-class confusion confirms the ordinal nature of performance levels — the model learns real physiological gradients.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Matrices &amp; Classification Reports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31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3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931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Curves &amp; Learning Curves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31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3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931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Detailed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Explainability — What Drives Predictions?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 counts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377440" y="731520"/>
            <a:ext cx="3200400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23560" y="685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jump corr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097280"/>
            <a:ext cx="2913468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6628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463040"/>
            <a:ext cx="2604463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7623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fitness_composite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1828800"/>
            <a:ext cx="2472033" cy="22860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5193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fat_%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2194560"/>
            <a:ext cx="2163029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6189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2560320"/>
            <a:ext cx="1920240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43400" y="2514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endurance_strength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2926080"/>
            <a:ext cx="1743666" cy="22860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66826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3291840"/>
            <a:ext cx="1434662" cy="22860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57822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strength_per_kg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3657600"/>
            <a:ext cx="1280160" cy="22860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0332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4023360"/>
            <a:ext cx="1059443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82603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0" y="685800"/>
            <a:ext cx="2926080" cy="34747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731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109728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sit-ups = #1 predictor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4 of top 10 are engineered features (</a:t>
            </a:r>
            <a:r>
              <a:rPr lang="en-US" sz="1000" b="1" dirty="0">
                <a:solidFill>
                  <a:srgbClr val="00F5D4"/>
                </a:solidFill>
              </a:rPr>
              <a:t>cyan bars</a:t>
            </a:r>
            <a:r>
              <a:rPr lang="en-US" sz="1000" dirty="0">
                <a:solidFill>
                  <a:srgbClr val="B8C4D4"/>
                </a:solidFill>
              </a:rPr>
              <a:t>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High fitness + low fat + young age → Class A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Inverse pattern → Class 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Physiologically meaningful patterns — not statistical noise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00F5D4">
              <a:alpha val="15000"/>
            </a:srgbClr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 the model learned real physiological gradients — engineered features provide complementary signal.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— Detailed Explanation Plot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broad jump distance with 17 leak-free features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— Predicting Broad Jump Distance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Bassem Salah — 17 safe features (leakage-free)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190.13 cm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37160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39.87 cm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868680"/>
            <a:ext cx="137160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0-303 cm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868680"/>
            <a:ext cx="3566160" cy="777240"/>
          </a:xfrm>
          <a:prstGeom prst="rect">
            <a:avLst/>
          </a:prstGeom>
          <a:solidFill>
            <a:srgbClr val="F43F5E">
              <a:alpha val="15000"/>
            </a:srgbClr>
          </a:solidFill>
          <a:ln w="63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8961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</a:rPr>
              <a:t>Leakage Prevention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3 features excluded: jump_per_kg, fitness_composite, broad_jump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274320" y="1828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1168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SVR (RBF)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8C4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— Residual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3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31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3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931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— Model Comparison Plots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4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3931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/sessions/modest-upbeat-darwin/extracted_images/image4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960120"/>
            <a:ext cx="3931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Regression — 6 Variants × 5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rich polynomial features wins — a surprising result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Advanced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03520" y="1325880"/>
            <a:ext cx="3474720" cy="59436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V6: All Enhanced (39f)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216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 | R²=0.7841 | RMSE=18.52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3520" y="2011680"/>
            <a:ext cx="3474720" cy="59436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94960" y="2011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Log+Poly (33f)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 | R²=0.7837 | RMSE=18.55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03520" y="2697480"/>
            <a:ext cx="3474720" cy="594360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Poly-Int (32f)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216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 | R²=0.7832 | RMSE=18.58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3840480"/>
            <a:ext cx="8595360" cy="59436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SURPRISING: </a:t>
            </a:r>
            <a:r>
              <a:rPr lang="en-US" sz="1100" dirty="0">
                <a:solidFill>
                  <a:srgbClr val="FFFFFF"/>
                </a:solidFill>
              </a:rPr>
              <a:t>Linear Regression + polynomial features (39f) beats SVR-RBF and Neural Network. Simpler models + rich features &gt; complex models + simple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Regression — Full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modest-upbeat-darwin/extracted_images/image4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960120"/>
            <a:ext cx="7863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App — Gradio Interface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Bassem Salah — interactive web app for real-time predictions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82880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Input Fields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height, weight,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fat, BP, grip, flexibility,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sit-ups, broad jump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920240" cy="182880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(A/B/C/D)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Regression (predicted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jump in cm)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920240" cy="1828800"/>
          </a:xfrm>
          <a:prstGeom prst="rect">
            <a:avLst/>
          </a:prstGeom>
          <a:solidFill>
            <a:srgbClr val="111D30"/>
          </a:solidFill>
          <a:ln w="63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and class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1005840"/>
            <a:ext cx="1920240" cy="1828800"/>
          </a:xfrm>
          <a:prstGeom prst="rect">
            <a:avLst/>
          </a:prstGeom>
          <a:solidFill>
            <a:srgbClr val="111D30"/>
          </a:solidFill>
          <a:ln w="635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Deploy-Ready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interface — deployable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HuggingFace Spaces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 access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metrics)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features)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Est.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Real-World Applications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 Screening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athlete classification for talent identification without expensive lab tests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651760" cy="4572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Training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assign personalised programs based on ML-assessed performance level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Insurance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fitness scoring for risk assessment — replacing subjective evaluations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Wellness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fitness tracking at scale with automated classification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6517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7560" y="265176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Rehab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rehabilitation progress objectively — predict target performance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651760"/>
            <a:ext cx="2651760" cy="155448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651760" cy="457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Health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fitness monitoring for epidemiological studies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3017520"/>
          </a:xfrm>
          <a:prstGeom prst="rect">
            <a:avLst/>
          </a:prstGeom>
          <a:solidFill>
            <a:srgbClr val="111D30"/>
          </a:solidFill>
          <a:ln w="63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Neural Network wins: 75.29% — 3× random baseline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Feature engineering adds ~2 pp across ALL models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Class B hardest (F1=0.64) — Class D easiest (F1=0.86)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5D4"/>
                </a:solidFill>
              </a:rPr>
              <a:t>ROC-AUC = 0.9193 — excellent discrimination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Non-linear models beat linear by 10-15 pp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4023360" cy="3017520"/>
          </a:xfrm>
          <a:prstGeom prst="rect">
            <a:avLst/>
          </a:prstGeom>
          <a:solidFill>
            <a:srgbClr val="111D30"/>
          </a:solidFill>
          <a:ln w="63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SVR-RBF wins basic: R²=0.7817, RMSE=18.62 cm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Linear Reg. wins advanced: R²=0.7841 (39 features)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All models converge at R²~0.78 — data ceiling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Polynomial interactions add +0.003 R²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RMSE ~18-19 cm — practical for screening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196596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75.29%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196596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0.9193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977640"/>
            <a:ext cx="196596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0.7841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3977640"/>
            <a:ext cx="1965960" cy="777240"/>
          </a:xfrm>
          <a:prstGeom prst="rect">
            <a:avLst/>
          </a:prstGeom>
          <a:solidFill>
            <a:srgbClr val="111D30"/>
          </a:solidFill>
          <a:ln w="635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932688"/>
            <a:ext cx="438912" cy="438912"/>
          </a:xfrm>
          <a:prstGeom prst="ellipse">
            <a:avLst/>
          </a:prstGeom>
          <a:solidFill>
            <a:srgbClr val="00B4D8">
              <a:alpha val="25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822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822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50k+ records from diverse populations — break the 75% ceiling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658368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" cy="658368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709928"/>
            <a:ext cx="438912" cy="438912"/>
          </a:xfrm>
          <a:prstGeom prst="ellipse">
            <a:avLst/>
          </a:prstGeom>
          <a:solidFill>
            <a:srgbClr val="00F5D4">
              <a:alpha val="25000"/>
            </a:srgbClr>
          </a:solidFill>
          <a:ln w="635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6002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16002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TabNet / ResNet-inspired tabular models — potential +2-3%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658368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54864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2487168"/>
            <a:ext cx="438912" cy="438912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377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Methods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23774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NN + SVM-RBF + XGBoost predictions — potential +1-2% F1-score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658368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3264408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Gender-Specific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154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models per gender group — address bimodal distributions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658368"/>
          </a:xfrm>
          <a:prstGeom prst="rect">
            <a:avLst/>
          </a:prstGeom>
          <a:solidFill>
            <a:srgbClr val="111D30"/>
          </a:solidFill>
          <a:ln w="3810">
            <a:solidFill>
              <a:srgbClr val="1A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4041648"/>
            <a:ext cx="438912" cy="438912"/>
          </a:xfrm>
          <a:prstGeom prst="ellipse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041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931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39319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Gradio App to HuggingFace Spaces — real-world validation at scale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built from scratch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002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685800" cy="68580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Hossam Elnagar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417320" cy="320040"/>
          </a:xfrm>
          <a:prstGeom prst="rect">
            <a:avLst/>
          </a:prstGeom>
          <a:solidFill>
            <a:srgbClr val="00B4D8">
              <a:alpha val="20000"/>
            </a:srgbClr>
          </a:solidFill>
          <a:ln w="381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 Lead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audit, cleaning pipeline, EDA visualisations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29968" y="1005840"/>
            <a:ext cx="160020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29968" y="1005840"/>
            <a:ext cx="1600200" cy="45720"/>
          </a:xfrm>
          <a:prstGeom prst="rect">
            <a:avLst/>
          </a:prstGeom>
          <a:solidFill>
            <a:srgbClr val="00F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87168" y="1188720"/>
            <a:ext cx="685800" cy="685800"/>
          </a:xfrm>
          <a:prstGeom prst="ellipse">
            <a:avLst/>
          </a:prstGeom>
          <a:solidFill>
            <a:srgbClr val="00F5D4">
              <a:alpha val="35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87168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75688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Khaled Metwalie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21408" y="2377440"/>
            <a:ext cx="1417320" cy="320040"/>
          </a:xfrm>
          <a:prstGeom prst="rect">
            <a:avLst/>
          </a:prstGeom>
          <a:solidFill>
            <a:srgbClr val="00F5D4">
              <a:alpha val="20000"/>
            </a:srgbClr>
          </a:solidFill>
          <a:ln w="381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21408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Lead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21408" y="28346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 features, 4 selection methods, 6 subsets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85616" y="1005840"/>
            <a:ext cx="160020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85616" y="1005840"/>
            <a:ext cx="16002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42816" y="1188720"/>
            <a:ext cx="685800" cy="6858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42816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31336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Hazem Mohamed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77056" y="2377440"/>
            <a:ext cx="141732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77056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Lead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77056" y="28346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× 30 configs, hyperparameter search spaces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41264" y="1005840"/>
            <a:ext cx="160020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41264" y="1005840"/>
            <a:ext cx="1600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98464" y="1188720"/>
            <a:ext cx="685800" cy="68580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98464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86984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Hazem Shokr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32704" y="2377440"/>
            <a:ext cx="141732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38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32704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Lead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32704" y="28346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SHAP, ROC-AUC, learning curves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96912" y="1005840"/>
            <a:ext cx="1600200" cy="3291840"/>
          </a:xfrm>
          <a:prstGeom prst="rect">
            <a:avLst/>
          </a:prstGeom>
          <a:solidFill>
            <a:srgbClr val="111D30"/>
          </a:solidFill>
          <a:ln w="6350">
            <a:solidFill>
              <a:srgbClr val="1A2D4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1005840"/>
            <a:ext cx="1600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54112" y="1188720"/>
            <a:ext cx="685800" cy="685800"/>
          </a:xfrm>
          <a:prstGeom prst="ellipse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54112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342632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Bassem Salah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88352" y="2377440"/>
            <a:ext cx="141732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88352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App Lead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88352" y="283464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pipeline + Gradio prediction app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0F5D4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ML Analytics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173736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75.29%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926080"/>
            <a:ext cx="173736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00F5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0.9193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926080"/>
            <a:ext cx="1737360" cy="1005840"/>
          </a:xfrm>
          <a:prstGeom prst="rect">
            <a:avLst/>
          </a:prstGeom>
          <a:solidFill>
            <a:srgbClr val="111D30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0.7841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5216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ML — Course Project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306608-4fdd-44be-8337-5fcb5698f3df">
      <Terms xmlns="http://schemas.microsoft.com/office/infopath/2007/PartnerControls"/>
    </lcf76f155ced4ddcb4097134ff3c332f>
    <TaxCatchAll xmlns="0316f38b-0e29-4ef8-8f1b-e677565d680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07D4280E89E047AE3AF0EEC08A08F2" ma:contentTypeVersion="10" ma:contentTypeDescription="Create a new document." ma:contentTypeScope="" ma:versionID="f27594ffe64f11298a2bc04a764d62d3">
  <xsd:schema xmlns:xsd="http://www.w3.org/2001/XMLSchema" xmlns:xs="http://www.w3.org/2001/XMLSchema" xmlns:p="http://schemas.microsoft.com/office/2006/metadata/properties" xmlns:ns2="db306608-4fdd-44be-8337-5fcb5698f3df" xmlns:ns3="0316f38b-0e29-4ef8-8f1b-e677565d680b" targetNamespace="http://schemas.microsoft.com/office/2006/metadata/properties" ma:root="true" ma:fieldsID="5266d245b2ac83abd238a5e0b14998aa" ns2:_="" ns3:_="">
    <xsd:import namespace="db306608-4fdd-44be-8337-5fcb5698f3df"/>
    <xsd:import namespace="0316f38b-0e29-4ef8-8f1b-e677565d68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06608-4fdd-44be-8337-5fcb5698f3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c69e0a-9f1e-4b1c-abc7-e9132a2417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16f38b-0e29-4ef8-8f1b-e677565d680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bbdbeef-dab8-409a-ab49-3aeca074395c}" ma:internalName="TaxCatchAll" ma:showField="CatchAllData" ma:web="0316f38b-0e29-4ef8-8f1b-e677565d68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C44D61-4691-481F-9417-A006E0DE6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AB9C8B-AC1F-4875-80F6-C7F4FC6C222A}">
  <ds:schemaRefs>
    <ds:schemaRef ds:uri="http://schemas.microsoft.com/office/2006/metadata/properties"/>
    <ds:schemaRef ds:uri="http://schemas.microsoft.com/office/infopath/2007/PartnerControls"/>
    <ds:schemaRef ds:uri="db306608-4fdd-44be-8337-5fcb5698f3df"/>
    <ds:schemaRef ds:uri="0316f38b-0e29-4ef8-8f1b-e677565d680b"/>
  </ds:schemaRefs>
</ds:datastoreItem>
</file>

<file path=customXml/itemProps3.xml><?xml version="1.0" encoding="utf-8"?>
<ds:datastoreItem xmlns:ds="http://schemas.openxmlformats.org/officeDocument/2006/customXml" ds:itemID="{D8E35208-DB1C-49DC-B0A8-11F3A2BF03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306608-4fdd-44be-8337-5fcb5698f3df"/>
    <ds:schemaRef ds:uri="0316f38b-0e29-4ef8-8f1b-e677565d68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1817</Words>
  <Application>Microsoft Office PowerPoint</Application>
  <PresentationFormat>On-screen Show (16:9)</PresentationFormat>
  <Paragraphs>483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ML Analytics System</dc:title>
  <dc:subject>PptxGenJS Presentation</dc:subject>
  <dc:creator>Body Performance ML Team</dc:creator>
  <cp:lastModifiedBy>Mohamed, hazem 81402155</cp:lastModifiedBy>
  <cp:revision>3</cp:revision>
  <dcterms:created xsi:type="dcterms:W3CDTF">2026-03-29T06:17:37Z</dcterms:created>
  <dcterms:modified xsi:type="dcterms:W3CDTF">2026-03-29T06:39:58Z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0x0101003D07D4280E89E047AE3AF0EEC08A08F2</vt:lpwstr>
  </property>
  <property fmtid="{D5CDD505-2E9C-101B-9397-08002B2CF9AE}" pid="3" name="MediaServiceImageTags">
    <vt:lpwstr/>
  </property>
</Properties>
</file>